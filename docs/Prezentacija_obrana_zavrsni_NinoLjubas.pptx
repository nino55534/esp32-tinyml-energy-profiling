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7"/>
    <p:restoredTop sz="80676"/>
  </p:normalViewPr>
  <p:slideViewPr>
    <p:cSldViewPr snapToGrid="0" snapToObjects="1">
      <p:cViewPr varScale="1">
        <p:scale>
          <a:sx n="102" d="100"/>
          <a:sy n="102" d="100"/>
        </p:scale>
        <p:origin x="15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2677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1051560" y="1188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857"/>
                </a:solidFill>
              </a:rPr>
              <a:t>OBRANA ZAVRŠNOG RADA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960120" y="1691640"/>
            <a:ext cx="10287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Eksperimentalna analiza</a:t>
            </a:r>
            <a:endParaRPr lang="en-US" sz="3200" dirty="0"/>
          </a:p>
          <a:p>
            <a:pPr marL="0" indent="0" algn="ctr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energetskog profila rada</a:t>
            </a:r>
            <a:endParaRPr lang="en-US" sz="3200" dirty="0"/>
          </a:p>
          <a:p>
            <a:pPr marL="0" indent="0" algn="ctr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uređaja ograničenih resursa</a:t>
            </a:r>
            <a:endParaRPr lang="en-US" sz="3200" dirty="0"/>
          </a:p>
          <a:p>
            <a:pPr marL="0" indent="0" algn="ctr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 sustavu Interneta stvari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960120" y="4160520"/>
            <a:ext cx="10287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Nino Ljubas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4526280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2D6DC"/>
                </a:solidFill>
              </a:rPr>
              <a:t>Zagreb, lipanj 2026.  ·  mentor: prof. dr. sc. Gordan Ježić</a:t>
            </a:r>
            <a:endParaRPr lang="en-US" sz="1100" dirty="0"/>
          </a:p>
        </p:txBody>
      </p:sp>
      <p:pic>
        <p:nvPicPr>
          <p:cNvPr id="12" name="Picture 11" descr="Screenshot 2026-06-27 at 20.27.22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7472"/>
            <a:ext cx="1051560" cy="5657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5" name="Text 2"/>
          <p:cNvSpPr/>
          <p:nvPr/>
        </p:nvSpPr>
        <p:spPr>
          <a:xfrm>
            <a:off x="502920" y="647395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3"/>
                </a:solidFill>
              </a:rPr>
              <a:t>Završni rad · Nino Ljubas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147572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8493"/>
                </a:solidFill>
              </a:rPr>
              <a:t>2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261872" y="347472"/>
            <a:ext cx="987552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232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Motivacija</a:t>
            </a:r>
            <a:r>
              <a:rPr lang="en-US" sz="3000" b="1" dirty="0">
                <a:solidFill>
                  <a:srgbClr val="1232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3000" b="1" dirty="0" err="1">
                <a:solidFill>
                  <a:srgbClr val="1232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</a:t>
            </a:r>
            <a:r>
              <a:rPr lang="en-US" sz="3000" b="1" dirty="0">
                <a:solidFill>
                  <a:srgbClr val="1232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3000" b="1" dirty="0" err="1">
                <a:solidFill>
                  <a:srgbClr val="1232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pregled</a:t>
            </a:r>
            <a:r>
              <a:rPr lang="en-US" sz="3000" b="1" dirty="0">
                <a:solidFill>
                  <a:srgbClr val="1232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rada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58368" y="1051560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58367" y="1353312"/>
            <a:ext cx="5777267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rPr lang="en-US" sz="2400" b="1" dirty="0" err="1">
                <a:solidFill>
                  <a:srgbClr val="172033"/>
                </a:solidFill>
              </a:rPr>
              <a:t>Uređaji</a:t>
            </a:r>
            <a:r>
              <a:rPr lang="en-US" sz="2400" b="1" dirty="0">
                <a:solidFill>
                  <a:srgbClr val="172033"/>
                </a:solidFill>
              </a:rPr>
              <a:t> </a:t>
            </a:r>
            <a:r>
              <a:rPr lang="en-US" sz="2400" b="1" dirty="0" err="1">
                <a:solidFill>
                  <a:srgbClr val="172033"/>
                </a:solidFill>
              </a:rPr>
              <a:t>ograničenih</a:t>
            </a:r>
            <a:r>
              <a:rPr lang="en-US" sz="2400" b="1" dirty="0">
                <a:solidFill>
                  <a:srgbClr val="172033"/>
                </a:solidFill>
              </a:rPr>
              <a:t> </a:t>
            </a:r>
            <a:r>
              <a:rPr lang="en-US" sz="2400" b="1" dirty="0" err="1">
                <a:solidFill>
                  <a:srgbClr val="172033"/>
                </a:solidFill>
              </a:rPr>
              <a:t>resursa</a:t>
            </a:r>
            <a:r>
              <a:rPr lang="en-US" sz="2400" b="1" dirty="0">
                <a:solidFill>
                  <a:srgbClr val="172033"/>
                </a:solidFill>
              </a:rPr>
              <a:t> u </a:t>
            </a:r>
            <a:r>
              <a:rPr lang="en-US" sz="2400" b="1" dirty="0" err="1">
                <a:solidFill>
                  <a:srgbClr val="172033"/>
                </a:solidFill>
              </a:rPr>
              <a:t>sustavima</a:t>
            </a:r>
            <a:r>
              <a:rPr lang="en-US" sz="2400" b="1" dirty="0">
                <a:solidFill>
                  <a:srgbClr val="172033"/>
                </a:solidFill>
              </a:rPr>
              <a:t> </a:t>
            </a:r>
            <a:r>
              <a:rPr lang="en-US" sz="2400" b="1" dirty="0" err="1">
                <a:solidFill>
                  <a:srgbClr val="172033"/>
                </a:solidFill>
              </a:rPr>
              <a:t>Interneta</a:t>
            </a:r>
            <a:r>
              <a:rPr lang="en-US" sz="2400" b="1" dirty="0">
                <a:solidFill>
                  <a:srgbClr val="172033"/>
                </a:solidFill>
              </a:rPr>
              <a:t> </a:t>
            </a:r>
            <a:r>
              <a:rPr lang="en-US" sz="2400" b="1" dirty="0" err="1">
                <a:solidFill>
                  <a:srgbClr val="172033"/>
                </a:solidFill>
              </a:rPr>
              <a:t>stvari</a:t>
            </a:r>
            <a:r>
              <a:rPr lang="en-US" sz="2400" b="1" dirty="0">
                <a:solidFill>
                  <a:srgbClr val="172033"/>
                </a:solidFill>
              </a:rPr>
              <a:t> </a:t>
            </a:r>
            <a:r>
              <a:rPr lang="en-US" sz="2400" b="1" dirty="0" err="1">
                <a:solidFill>
                  <a:srgbClr val="172033"/>
                </a:solidFill>
              </a:rPr>
              <a:t>često</a:t>
            </a:r>
            <a:r>
              <a:rPr lang="en-US" sz="2400" b="1" dirty="0">
                <a:solidFill>
                  <a:srgbClr val="172033"/>
                </a:solidFill>
              </a:rPr>
              <a:t> </a:t>
            </a:r>
            <a:r>
              <a:rPr lang="en-US" sz="2400" b="1" dirty="0" err="1">
                <a:solidFill>
                  <a:srgbClr val="172033"/>
                </a:solidFill>
              </a:rPr>
              <a:t>rade</a:t>
            </a:r>
            <a:r>
              <a:rPr lang="en-US" sz="2400" b="1" dirty="0">
                <a:solidFill>
                  <a:srgbClr val="172033"/>
                </a:solidFill>
              </a:rPr>
              <a:t> u </a:t>
            </a:r>
            <a:r>
              <a:rPr lang="en-US" sz="2400" b="1" dirty="0" err="1">
                <a:solidFill>
                  <a:srgbClr val="172033"/>
                </a:solidFill>
              </a:rPr>
              <a:t>cikličkom</a:t>
            </a:r>
            <a:r>
              <a:rPr lang="en-US" sz="2400" b="1" dirty="0">
                <a:solidFill>
                  <a:srgbClr val="172033"/>
                </a:solidFill>
              </a:rPr>
              <a:t> </a:t>
            </a:r>
            <a:r>
              <a:rPr lang="en-US" sz="2400" b="1" dirty="0" err="1">
                <a:solidFill>
                  <a:srgbClr val="172033"/>
                </a:solidFill>
              </a:rPr>
              <a:t>režimu</a:t>
            </a:r>
            <a:r>
              <a:rPr lang="en-US" sz="2400" b="1" dirty="0">
                <a:solidFill>
                  <a:srgbClr val="172033"/>
                </a:solidFill>
              </a:rPr>
              <a:t>, a sve više </a:t>
            </a:r>
            <a:r>
              <a:rPr lang="en-US" sz="2400" b="1" dirty="0" err="1">
                <a:solidFill>
                  <a:srgbClr val="172033"/>
                </a:solidFill>
              </a:rPr>
              <a:t>obrade</a:t>
            </a:r>
            <a:r>
              <a:rPr lang="en-US" sz="2400" b="1" dirty="0">
                <a:solidFill>
                  <a:srgbClr val="172033"/>
                </a:solidFill>
              </a:rPr>
              <a:t> se </a:t>
            </a:r>
            <a:r>
              <a:rPr lang="en-US" sz="2400" b="1" dirty="0" err="1">
                <a:solidFill>
                  <a:srgbClr val="172033"/>
                </a:solidFill>
              </a:rPr>
              <a:t>seli</a:t>
            </a:r>
            <a:r>
              <a:rPr lang="en-US" sz="2400" b="1" dirty="0">
                <a:solidFill>
                  <a:srgbClr val="172033"/>
                </a:solidFill>
              </a:rPr>
              <a:t> </a:t>
            </a:r>
            <a:r>
              <a:rPr lang="en-US" sz="2400" b="1" dirty="0" err="1">
                <a:solidFill>
                  <a:srgbClr val="172033"/>
                </a:solidFill>
              </a:rPr>
              <a:t>na</a:t>
            </a:r>
            <a:r>
              <a:rPr lang="en-US" sz="2400" b="1" dirty="0">
                <a:solidFill>
                  <a:srgbClr val="172033"/>
                </a:solidFill>
              </a:rPr>
              <a:t> rub mreže.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713232" y="2487168"/>
            <a:ext cx="91440" cy="91440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1" name="Text 8"/>
          <p:cNvSpPr/>
          <p:nvPr/>
        </p:nvSpPr>
        <p:spPr>
          <a:xfrm>
            <a:off x="969264" y="2395728"/>
            <a:ext cx="5303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2033"/>
                </a:solidFill>
              </a:rPr>
              <a:t>periodično buđenje i mjerenje senzora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713232" y="2926080"/>
            <a:ext cx="91440" cy="91440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3" name="Text 10"/>
          <p:cNvSpPr/>
          <p:nvPr/>
        </p:nvSpPr>
        <p:spPr>
          <a:xfrm>
            <a:off x="969264" y="2834640"/>
            <a:ext cx="5303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2033"/>
                </a:solidFill>
              </a:rPr>
              <a:t>lokalna obrada podataka na ESP32‑S3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713232" y="3364992"/>
            <a:ext cx="91440" cy="91440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5" name="Text 12"/>
          <p:cNvSpPr/>
          <p:nvPr/>
        </p:nvSpPr>
        <p:spPr>
          <a:xfrm>
            <a:off x="969264" y="3273552"/>
            <a:ext cx="5303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50" dirty="0" err="1">
                <a:solidFill>
                  <a:srgbClr val="172033"/>
                </a:solidFill>
              </a:rPr>
              <a:t>zaključivanje</a:t>
            </a:r>
            <a:r>
              <a:rPr lang="en-US" sz="1650" dirty="0">
                <a:solidFill>
                  <a:srgbClr val="172033"/>
                </a:solidFill>
              </a:rPr>
              <a:t> </a:t>
            </a:r>
            <a:r>
              <a:rPr lang="en-US" sz="1650" dirty="0" err="1">
                <a:solidFill>
                  <a:srgbClr val="172033"/>
                </a:solidFill>
              </a:rPr>
              <a:t>modela</a:t>
            </a:r>
            <a:r>
              <a:rPr lang="en-US" sz="1650" dirty="0">
                <a:solidFill>
                  <a:srgbClr val="172033"/>
                </a:solidFill>
              </a:rPr>
              <a:t> </a:t>
            </a:r>
            <a:r>
              <a:rPr lang="en-US" sz="1650" dirty="0" err="1">
                <a:solidFill>
                  <a:srgbClr val="172033"/>
                </a:solidFill>
              </a:rPr>
              <a:t>umjetne</a:t>
            </a:r>
            <a:r>
              <a:rPr lang="en-US" sz="1650" dirty="0">
                <a:solidFill>
                  <a:srgbClr val="172033"/>
                </a:solidFill>
              </a:rPr>
              <a:t> </a:t>
            </a:r>
            <a:r>
              <a:rPr lang="en-US" sz="1650" dirty="0" err="1">
                <a:solidFill>
                  <a:srgbClr val="172033"/>
                </a:solidFill>
              </a:rPr>
              <a:t>inteligencije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713232" y="3803904"/>
            <a:ext cx="91440" cy="91440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7" name="Text 14"/>
          <p:cNvSpPr/>
          <p:nvPr/>
        </p:nvSpPr>
        <p:spPr>
          <a:xfrm>
            <a:off x="969264" y="3712464"/>
            <a:ext cx="5303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2033"/>
                </a:solidFill>
              </a:rPr>
              <a:t>slanje </a:t>
            </a:r>
            <a:r>
              <a:rPr lang="en-US" sz="1650" dirty="0" err="1">
                <a:solidFill>
                  <a:srgbClr val="172033"/>
                </a:solidFill>
              </a:rPr>
              <a:t>rezultata</a:t>
            </a:r>
            <a:r>
              <a:rPr lang="en-US" sz="1650" dirty="0">
                <a:solidFill>
                  <a:srgbClr val="172033"/>
                </a:solidFill>
              </a:rPr>
              <a:t> </a:t>
            </a:r>
            <a:r>
              <a:rPr lang="en-US" sz="1650" dirty="0" err="1">
                <a:solidFill>
                  <a:srgbClr val="172033"/>
                </a:solidFill>
              </a:rPr>
              <a:t>prema</a:t>
            </a:r>
            <a:r>
              <a:rPr lang="en-US" sz="1650" dirty="0">
                <a:solidFill>
                  <a:srgbClr val="172033"/>
                </a:solidFill>
              </a:rPr>
              <a:t> </a:t>
            </a:r>
            <a:r>
              <a:rPr lang="en-US" sz="1650" dirty="0" err="1">
                <a:solidFill>
                  <a:srgbClr val="172033"/>
                </a:solidFill>
              </a:rPr>
              <a:t>nadređenom</a:t>
            </a:r>
            <a:r>
              <a:rPr lang="en-US" sz="1650" dirty="0">
                <a:solidFill>
                  <a:srgbClr val="172033"/>
                </a:solidFill>
              </a:rPr>
              <a:t> </a:t>
            </a:r>
            <a:r>
              <a:rPr lang="en-US" sz="1650" dirty="0" err="1">
                <a:solidFill>
                  <a:srgbClr val="172033"/>
                </a:solidFill>
              </a:rPr>
              <a:t>sustavu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6995160" y="1508760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995160" y="1828800"/>
            <a:ext cx="3840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6995160" y="30358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97A"/>
                </a:solidFill>
              </a:rPr>
              <a:t>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234440" y="5102352"/>
            <a:ext cx="9646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23" name="Picture 22" descr="Screenshot 2026-06-27 at 20.29.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8872"/>
            <a:ext cx="822960" cy="4520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5" name="Text 2"/>
          <p:cNvSpPr/>
          <p:nvPr/>
        </p:nvSpPr>
        <p:spPr>
          <a:xfrm>
            <a:off x="502920" y="647395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3"/>
                </a:solidFill>
              </a:rPr>
              <a:t>Završni rad · Nino Ljubas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147572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8493"/>
                </a:solidFill>
              </a:rPr>
              <a:t>3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261872" y="347472"/>
            <a:ext cx="987552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2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Arhitektura sustava</a:t>
            </a:r>
            <a:endParaRPr lang="en-US" sz="3000" dirty="0"/>
          </a:p>
        </p:txBody>
      </p:sp>
      <p:pic>
        <p:nvPicPr>
          <p:cNvPr id="8" name="Image 1" descr="/mnt/data/slide_assets/extracted/page9_im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67384"/>
            <a:ext cx="6263640" cy="417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0" y="11247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7360920" y="1627632"/>
            <a:ext cx="91440" cy="91440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1" name="Text 7"/>
          <p:cNvSpPr/>
          <p:nvPr/>
        </p:nvSpPr>
        <p:spPr>
          <a:xfrm>
            <a:off x="7616952" y="1536192"/>
            <a:ext cx="38404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33"/>
                </a:solidFill>
              </a:rPr>
              <a:t>DHT11 mjeri temperaturu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7360920" y="2130552"/>
            <a:ext cx="91440" cy="91440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3" name="Text 9"/>
          <p:cNvSpPr/>
          <p:nvPr/>
        </p:nvSpPr>
        <p:spPr>
          <a:xfrm>
            <a:off x="7616952" y="2039112"/>
            <a:ext cx="38404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33"/>
                </a:solidFill>
              </a:rPr>
              <a:t>ESP32‑S3 upravlja ciklusom i izvodi model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7360920" y="2633472"/>
            <a:ext cx="91440" cy="91440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5" name="Text 11"/>
          <p:cNvSpPr/>
          <p:nvPr/>
        </p:nvSpPr>
        <p:spPr>
          <a:xfrm>
            <a:off x="7616952" y="2542032"/>
            <a:ext cx="38404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33"/>
                </a:solidFill>
              </a:rPr>
              <a:t>PPK2 mjeri potrošnju tijekom faza rada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7360920" y="3136392"/>
            <a:ext cx="91440" cy="91440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7" name="Text 13"/>
          <p:cNvSpPr/>
          <p:nvPr/>
        </p:nvSpPr>
        <p:spPr>
          <a:xfrm>
            <a:off x="7616952" y="3044952"/>
            <a:ext cx="38404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33"/>
                </a:solidFill>
              </a:rPr>
              <a:t>podatci se </a:t>
            </a:r>
            <a:r>
              <a:rPr lang="en-US" sz="1550" dirty="0" err="1">
                <a:solidFill>
                  <a:srgbClr val="172033"/>
                </a:solidFill>
              </a:rPr>
              <a:t>šalju</a:t>
            </a:r>
            <a:r>
              <a:rPr lang="en-US" sz="1550" dirty="0">
                <a:solidFill>
                  <a:srgbClr val="172033"/>
                </a:solidFill>
              </a:rPr>
              <a:t> preko Wi‑Fi </a:t>
            </a:r>
            <a:r>
              <a:rPr lang="en-US" sz="1550" dirty="0" err="1">
                <a:solidFill>
                  <a:srgbClr val="172033"/>
                </a:solidFill>
              </a:rPr>
              <a:t>nadređenom</a:t>
            </a:r>
            <a:r>
              <a:rPr lang="en-US" sz="1550" dirty="0">
                <a:solidFill>
                  <a:srgbClr val="172033"/>
                </a:solidFill>
              </a:rPr>
              <a:t> </a:t>
            </a:r>
            <a:r>
              <a:rPr lang="en-US" sz="1550" dirty="0" err="1">
                <a:solidFill>
                  <a:srgbClr val="172033"/>
                </a:solidFill>
              </a:rPr>
              <a:t>sustavu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7498080" y="44805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5CAD"/>
                </a:solidFill>
              </a:rPr>
              <a:t>3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7498080" y="4892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97A"/>
                </a:solidFill>
              </a:rPr>
              <a:t>komunikacijska protokola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9372600" y="44805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</a:rPr>
              <a:t>2</a:t>
            </a:r>
            <a:endParaRPr lang="en-US" sz="2800" dirty="0"/>
          </a:p>
        </p:txBody>
      </p:sp>
      <p:sp>
        <p:nvSpPr>
          <p:cNvPr id="21" name="Text 17"/>
          <p:cNvSpPr/>
          <p:nvPr/>
        </p:nvSpPr>
        <p:spPr>
          <a:xfrm>
            <a:off x="9372600" y="4892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5C697A"/>
                </a:solidFill>
              </a:rPr>
              <a:t>TinyML</a:t>
            </a:r>
            <a:r>
              <a:rPr lang="en-US" sz="1050" dirty="0">
                <a:solidFill>
                  <a:srgbClr val="5C697A"/>
                </a:solidFill>
              </a:rPr>
              <a:t> </a:t>
            </a:r>
            <a:r>
              <a:rPr lang="en-US" sz="1050" dirty="0" err="1">
                <a:solidFill>
                  <a:srgbClr val="5C697A"/>
                </a:solidFill>
              </a:rPr>
              <a:t>modela</a:t>
            </a:r>
            <a:endParaRPr lang="en-US" sz="1050" dirty="0"/>
          </a:p>
        </p:txBody>
      </p:sp>
      <p:pic>
        <p:nvPicPr>
          <p:cNvPr id="22" name="Picture 21" descr="Screenshot 2026-06-27 at 20.29.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1448"/>
            <a:ext cx="822960" cy="4520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5" name="Text 2"/>
          <p:cNvSpPr/>
          <p:nvPr/>
        </p:nvSpPr>
        <p:spPr>
          <a:xfrm>
            <a:off x="502920" y="647395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3"/>
                </a:solidFill>
              </a:rPr>
              <a:t>Završni rad · Nino Ljubas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147572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8493"/>
                </a:solidFill>
              </a:rPr>
              <a:t>4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261872" y="347472"/>
            <a:ext cx="987552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232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Izvođenje</a:t>
            </a:r>
            <a:r>
              <a:rPr lang="en-US" sz="3000" b="1" dirty="0">
                <a:solidFill>
                  <a:srgbClr val="1232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3000" b="1" dirty="0" err="1">
                <a:solidFill>
                  <a:srgbClr val="1232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mjerenja</a:t>
            </a:r>
            <a:endParaRPr lang="en-US" sz="3000" dirty="0"/>
          </a:p>
        </p:txBody>
      </p:sp>
      <p:pic>
        <p:nvPicPr>
          <p:cNvPr id="8" name="Image 1" descr="/mnt/data/slide_assets/extracted/page14_img0.png"/>
          <p:cNvPicPr>
            <a:picLocks noChangeAspect="1"/>
          </p:cNvPicPr>
          <p:nvPr/>
        </p:nvPicPr>
        <p:blipFill>
          <a:blip r:embed="rId3"/>
          <a:srcRect l="3564" r="3564"/>
          <a:stretch/>
        </p:blipFill>
        <p:spPr>
          <a:xfrm>
            <a:off x="658368" y="1124712"/>
            <a:ext cx="6903720" cy="431596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58368" y="5440680"/>
            <a:ext cx="6903720" cy="18288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0" name="Text 6"/>
          <p:cNvSpPr/>
          <p:nvPr/>
        </p:nvSpPr>
        <p:spPr>
          <a:xfrm>
            <a:off x="658368" y="5596128"/>
            <a:ext cx="6903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7909560" y="1170432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7955280" y="1673352"/>
            <a:ext cx="91440" cy="91440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3" name="Text 9"/>
          <p:cNvSpPr/>
          <p:nvPr/>
        </p:nvSpPr>
        <p:spPr>
          <a:xfrm>
            <a:off x="8211312" y="1581912"/>
            <a:ext cx="35661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033"/>
                </a:solidFill>
              </a:rPr>
              <a:t>ESP32‑S3 se </a:t>
            </a:r>
            <a:r>
              <a:rPr lang="en-US" sz="1450" dirty="0" err="1">
                <a:solidFill>
                  <a:srgbClr val="172033"/>
                </a:solidFill>
              </a:rPr>
              <a:t>napaja</a:t>
            </a:r>
            <a:r>
              <a:rPr lang="en-US" sz="1450" dirty="0">
                <a:solidFill>
                  <a:srgbClr val="172033"/>
                </a:solidFill>
              </a:rPr>
              <a:t> preko PPK2 u Source Meter načinu rada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955280" y="2240280"/>
            <a:ext cx="91440" cy="91440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5" name="Text 11"/>
          <p:cNvSpPr/>
          <p:nvPr/>
        </p:nvSpPr>
        <p:spPr>
          <a:xfrm>
            <a:off x="8211312" y="2148840"/>
            <a:ext cx="35661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033"/>
                </a:solidFill>
              </a:rPr>
              <a:t>napon postavljen na 3,3 V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7955280" y="2807208"/>
            <a:ext cx="91440" cy="91440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7" name="Text 13"/>
          <p:cNvSpPr/>
          <p:nvPr/>
        </p:nvSpPr>
        <p:spPr>
          <a:xfrm>
            <a:off x="8211312" y="2715768"/>
            <a:ext cx="35661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033"/>
                </a:solidFill>
              </a:rPr>
              <a:t>D0 povezan na GPIO5 za označavanje faza u Power Profiler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7955280" y="3374136"/>
            <a:ext cx="91440" cy="91440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9" name="Text 15"/>
          <p:cNvSpPr/>
          <p:nvPr/>
        </p:nvSpPr>
        <p:spPr>
          <a:xfrm>
            <a:off x="8211312" y="3282696"/>
            <a:ext cx="35661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033"/>
                </a:solidFill>
              </a:rPr>
              <a:t>DHT11 podatkovna linija spojena na GPIO4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7909560" y="495604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 err="1">
                <a:solidFill>
                  <a:srgbClr val="12325A"/>
                </a:solidFill>
              </a:rPr>
              <a:t>Cilj</a:t>
            </a:r>
            <a:r>
              <a:rPr lang="en-US" sz="1450" b="1" dirty="0">
                <a:solidFill>
                  <a:srgbClr val="12325A"/>
                </a:solidFill>
              </a:rPr>
              <a:t> </a:t>
            </a:r>
            <a:r>
              <a:rPr lang="en-US" sz="1450" b="1" dirty="0" err="1">
                <a:solidFill>
                  <a:srgbClr val="12325A"/>
                </a:solidFill>
              </a:rPr>
              <a:t>izmjeriti</a:t>
            </a:r>
            <a:r>
              <a:rPr lang="en-US" sz="1450" b="1" dirty="0">
                <a:solidFill>
                  <a:srgbClr val="12325A"/>
                </a:solidFill>
              </a:rPr>
              <a:t> </a:t>
            </a:r>
            <a:r>
              <a:rPr lang="en-US" sz="1450" b="1" dirty="0" err="1">
                <a:solidFill>
                  <a:srgbClr val="12325A"/>
                </a:solidFill>
              </a:rPr>
              <a:t>ukupnu</a:t>
            </a:r>
            <a:r>
              <a:rPr lang="en-US" sz="1450" b="1" dirty="0">
                <a:solidFill>
                  <a:srgbClr val="12325A"/>
                </a:solidFill>
              </a:rPr>
              <a:t> </a:t>
            </a:r>
            <a:r>
              <a:rPr lang="en-US" sz="1450" b="1" dirty="0" err="1">
                <a:solidFill>
                  <a:srgbClr val="12325A"/>
                </a:solidFill>
              </a:rPr>
              <a:t>potrošnju</a:t>
            </a:r>
            <a:r>
              <a:rPr lang="en-US" sz="1450" b="1" dirty="0">
                <a:solidFill>
                  <a:srgbClr val="12325A"/>
                </a:solidFill>
              </a:rPr>
              <a:t> po </a:t>
            </a:r>
            <a:r>
              <a:rPr lang="en-US" sz="1450" b="1" dirty="0" err="1">
                <a:solidFill>
                  <a:srgbClr val="12325A"/>
                </a:solidFill>
              </a:rPr>
              <a:t>fazama</a:t>
            </a:r>
            <a:r>
              <a:rPr lang="en-US" sz="1450" b="1" dirty="0">
                <a:solidFill>
                  <a:srgbClr val="12325A"/>
                </a:solidFill>
              </a:rPr>
              <a:t> </a:t>
            </a:r>
            <a:r>
              <a:rPr lang="en-US" sz="1450" b="1" dirty="0" err="1">
                <a:solidFill>
                  <a:srgbClr val="12325A"/>
                </a:solidFill>
              </a:rPr>
              <a:t>ciklusa</a:t>
            </a:r>
            <a:r>
              <a:rPr lang="en-US" sz="1450" b="1" dirty="0">
                <a:solidFill>
                  <a:srgbClr val="12325A"/>
                </a:solidFill>
              </a:rPr>
              <a:t>.</a:t>
            </a:r>
            <a:endParaRPr lang="en-US" sz="1450" dirty="0"/>
          </a:p>
        </p:txBody>
      </p:sp>
      <p:pic>
        <p:nvPicPr>
          <p:cNvPr id="21" name="Picture 20" descr="Screenshot 2026-06-27 at 20.29.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2028"/>
            <a:ext cx="822960" cy="4520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5" name="Text 2"/>
          <p:cNvSpPr/>
          <p:nvPr/>
        </p:nvSpPr>
        <p:spPr>
          <a:xfrm>
            <a:off x="502920" y="647395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3"/>
                </a:solidFill>
              </a:rPr>
              <a:t>Završni rad · Nino Ljubas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147572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8493"/>
                </a:solidFill>
              </a:rPr>
              <a:t>5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261872" y="347472"/>
            <a:ext cx="987552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2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Radni </a:t>
            </a:r>
            <a:r>
              <a:rPr lang="en-US" sz="3000" b="1" dirty="0" err="1">
                <a:solidFill>
                  <a:srgbClr val="1232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ciklus</a:t>
            </a:r>
            <a:r>
              <a:rPr lang="en-US" sz="3000" b="1" dirty="0">
                <a:solidFill>
                  <a:srgbClr val="1232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3000" b="1" dirty="0" err="1">
                <a:solidFill>
                  <a:srgbClr val="1232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sustava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1280160" y="1801368"/>
            <a:ext cx="9646920" cy="0"/>
          </a:xfrm>
          <a:prstGeom prst="line">
            <a:avLst/>
          </a:prstGeom>
          <a:noFill/>
          <a:ln w="27940">
            <a:solidFill>
              <a:srgbClr val="D9E2E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HR"/>
          </a:p>
        </p:txBody>
      </p:sp>
      <p:sp>
        <p:nvSpPr>
          <p:cNvPr id="9" name="Shape 6"/>
          <p:cNvSpPr/>
          <p:nvPr/>
        </p:nvSpPr>
        <p:spPr>
          <a:xfrm>
            <a:off x="1875663" y="1499616"/>
            <a:ext cx="603504" cy="603504"/>
          </a:xfrm>
          <a:prstGeom prst="ellipse">
            <a:avLst/>
          </a:prstGeom>
          <a:solidFill>
            <a:srgbClr val="12325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0" name="Text 7"/>
          <p:cNvSpPr/>
          <p:nvPr/>
        </p:nvSpPr>
        <p:spPr>
          <a:xfrm>
            <a:off x="2058543" y="165506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4400" y="2249424"/>
            <a:ext cx="25260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25A"/>
                </a:solidFill>
              </a:rPr>
              <a:t>Mirovanje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23544" y="2542032"/>
            <a:ext cx="25077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97A"/>
                </a:solidFill>
              </a:rPr>
              <a:t>Wi‑Fi power save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493133" y="1499616"/>
            <a:ext cx="603504" cy="603504"/>
          </a:xfrm>
          <a:prstGeom prst="ellipse">
            <a:avLst/>
          </a:prstGeom>
          <a:solidFill>
            <a:srgbClr val="0B5CA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4" name="Text 11"/>
          <p:cNvSpPr/>
          <p:nvPr/>
        </p:nvSpPr>
        <p:spPr>
          <a:xfrm>
            <a:off x="4676013" y="165506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531870" y="2249424"/>
            <a:ext cx="25260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25A"/>
                </a:solidFill>
              </a:rPr>
              <a:t>Mjerenje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541014" y="2542032"/>
            <a:ext cx="25077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97A"/>
                </a:solidFill>
              </a:rPr>
              <a:t>DHT11 očitanje temperature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110603" y="1499616"/>
            <a:ext cx="603504" cy="60350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8" name="Text 15"/>
          <p:cNvSpPr/>
          <p:nvPr/>
        </p:nvSpPr>
        <p:spPr>
          <a:xfrm>
            <a:off x="7293483" y="165506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149340" y="2249424"/>
            <a:ext cx="25260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2325A"/>
                </a:solidFill>
              </a:rPr>
              <a:t>Zaključivanje</a:t>
            </a:r>
            <a:r>
              <a:rPr lang="en-US" sz="1400" b="1" dirty="0">
                <a:solidFill>
                  <a:srgbClr val="12325A"/>
                </a:solidFill>
              </a:rPr>
              <a:t> 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158484" y="2542032"/>
            <a:ext cx="25077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97A"/>
                </a:solidFill>
              </a:rPr>
              <a:t>CNN ili RNN 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728073" y="1499616"/>
            <a:ext cx="603504" cy="603504"/>
          </a:xfrm>
          <a:prstGeom prst="ellipse">
            <a:avLst/>
          </a:prstGeom>
          <a:solidFill>
            <a:srgbClr val="35A85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22" name="Text 19"/>
          <p:cNvSpPr/>
          <p:nvPr/>
        </p:nvSpPr>
        <p:spPr>
          <a:xfrm>
            <a:off x="9910953" y="165506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766810" y="2249424"/>
            <a:ext cx="25260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25A"/>
                </a:solidFill>
              </a:rPr>
              <a:t>Slanje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775954" y="2542032"/>
            <a:ext cx="25077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97A"/>
                </a:solidFill>
              </a:rPr>
              <a:t>UDP / TCP / MQTT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005840" y="402336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2033"/>
                </a:solidFill>
              </a:rPr>
              <a:t>Implementacija je napravljena u ESP‑IDF okruženju. Program prolazi isti ciklus za svaku varijantu, a mijenjaju se model i komunikacijski protokol.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274320" y="498348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E9EDF7"/>
          </a:solidFill>
          <a:ln w="12700">
            <a:solidFill>
              <a:srgbClr val="E9ED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27" name="Text 24"/>
          <p:cNvSpPr/>
          <p:nvPr/>
        </p:nvSpPr>
        <p:spPr>
          <a:xfrm>
            <a:off x="347472" y="504748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25A"/>
                </a:solidFill>
              </a:rPr>
              <a:t>esp_wifi_set_ps()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227832" y="498348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E8F1FB"/>
          </a:solidFill>
          <a:ln w="12700">
            <a:solidFill>
              <a:srgbClr val="E8F1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29" name="Text 26"/>
          <p:cNvSpPr/>
          <p:nvPr/>
        </p:nvSpPr>
        <p:spPr>
          <a:xfrm>
            <a:off x="3300984" y="504748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25A"/>
                </a:solidFill>
              </a:rPr>
              <a:t>dht11_read()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181344" y="498348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FFF3D6"/>
          </a:solidFill>
          <a:ln w="12700">
            <a:solidFill>
              <a:srgbClr val="FFF3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31" name="Text 28"/>
          <p:cNvSpPr/>
          <p:nvPr/>
        </p:nvSpPr>
        <p:spPr>
          <a:xfrm>
            <a:off x="6254496" y="504748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4C00"/>
                </a:solidFill>
              </a:rPr>
              <a:t>interp.Invoke()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9134856" y="498348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E8F6ED"/>
          </a:solidFill>
          <a:ln w="12700">
            <a:solidFill>
              <a:srgbClr val="E8F6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33" name="Text 30"/>
          <p:cNvSpPr/>
          <p:nvPr/>
        </p:nvSpPr>
        <p:spPr>
          <a:xfrm>
            <a:off x="9208008" y="504748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25A"/>
                </a:solidFill>
              </a:rPr>
              <a:t>sendto() / send() / mqtt_publish()</a:t>
            </a:r>
            <a:endParaRPr lang="en-US" sz="950" dirty="0"/>
          </a:p>
        </p:txBody>
      </p:sp>
      <p:pic>
        <p:nvPicPr>
          <p:cNvPr id="34" name="Picture 33" descr="Screenshot 2026-06-27 at 20.29.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448"/>
            <a:ext cx="822960" cy="4520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5" name="Text 2"/>
          <p:cNvSpPr/>
          <p:nvPr/>
        </p:nvSpPr>
        <p:spPr>
          <a:xfrm>
            <a:off x="502920" y="647395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3"/>
                </a:solidFill>
              </a:rPr>
              <a:t>Završni rad · Nino Ljubas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147572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8493"/>
                </a:solidFill>
              </a:rPr>
              <a:t>6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261872" y="347472"/>
            <a:ext cx="987552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232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Zaključivanje</a:t>
            </a:r>
            <a:r>
              <a:rPr lang="en-US" sz="3000" b="1" dirty="0">
                <a:solidFill>
                  <a:srgbClr val="1232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3000" b="1" dirty="0" err="1">
                <a:solidFill>
                  <a:srgbClr val="1232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modela</a:t>
            </a:r>
            <a:r>
              <a:rPr lang="en-US" sz="3000" b="1" dirty="0">
                <a:solidFill>
                  <a:srgbClr val="1232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3000" b="1" dirty="0" err="1">
                <a:solidFill>
                  <a:srgbClr val="1232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umjetne</a:t>
            </a:r>
            <a:r>
              <a:rPr lang="en-US" sz="3000" b="1" dirty="0">
                <a:solidFill>
                  <a:srgbClr val="1232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3000" b="1" dirty="0" err="1">
                <a:solidFill>
                  <a:srgbClr val="1232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inteligencije</a:t>
            </a:r>
            <a:r>
              <a:rPr lang="en-US" sz="3000" b="1" dirty="0">
                <a:solidFill>
                  <a:srgbClr val="1232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(CNN </a:t>
            </a:r>
            <a:r>
              <a:rPr lang="en-US" sz="3000" b="1" dirty="0" err="1">
                <a:solidFill>
                  <a:srgbClr val="1232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</a:t>
            </a:r>
            <a:r>
              <a:rPr lang="en-US" sz="3000" b="1" dirty="0">
                <a:solidFill>
                  <a:srgbClr val="1232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RNN)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13232" y="11155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2033"/>
                </a:solidFill>
              </a:rPr>
              <a:t>Oba modela su pretvorena u TensorFlow Lite Micro oblik i ugrađena u firmware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099048" y="1920240"/>
            <a:ext cx="0" cy="3429000"/>
          </a:xfrm>
          <a:prstGeom prst="line">
            <a:avLst/>
          </a:prstGeom>
          <a:noFill/>
          <a:ln w="1524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0" name="Text 7"/>
          <p:cNvSpPr/>
          <p:nvPr/>
        </p:nvSpPr>
        <p:spPr>
          <a:xfrm>
            <a:off x="960120" y="1956816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5CAD"/>
                </a:solidFill>
              </a:rPr>
              <a:t>CNN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60120" y="224942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325A"/>
                </a:solidFill>
              </a:rPr>
              <a:t>brže zaključivanje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1005840" y="2880360"/>
            <a:ext cx="91440" cy="91440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3" name="Text 10"/>
          <p:cNvSpPr/>
          <p:nvPr/>
        </p:nvSpPr>
        <p:spPr>
          <a:xfrm>
            <a:off x="1261872" y="2788920"/>
            <a:ext cx="43891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033"/>
                </a:solidFill>
              </a:rPr>
              <a:t>konvolucija obrađuje 24 uzorka u jednom prolasku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1005840" y="3300984"/>
            <a:ext cx="91440" cy="91440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5" name="Text 12"/>
          <p:cNvSpPr/>
          <p:nvPr/>
        </p:nvSpPr>
        <p:spPr>
          <a:xfrm>
            <a:off x="1261872" y="3209544"/>
            <a:ext cx="43891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033"/>
                </a:solidFill>
              </a:rPr>
              <a:t>manje operacija u MicroMutableOpResolveru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1005840" y="3721608"/>
            <a:ext cx="91440" cy="91440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7" name="Text 14"/>
          <p:cNvSpPr/>
          <p:nvPr/>
        </p:nvSpPr>
        <p:spPr>
          <a:xfrm>
            <a:off x="1261872" y="3630168"/>
            <a:ext cx="43891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dirty="0" err="1">
                <a:solidFill>
                  <a:srgbClr val="172033"/>
                </a:solidFill>
              </a:rPr>
              <a:t>cijela</a:t>
            </a:r>
            <a:r>
              <a:rPr lang="en-US" sz="1450" dirty="0">
                <a:solidFill>
                  <a:srgbClr val="172033"/>
                </a:solidFill>
              </a:rPr>
              <a:t> faza oko 4 ms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2084832" y="495604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5CAD"/>
                </a:solidFill>
              </a:rPr>
              <a:t>0,86 mJ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2084832" y="53675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97A"/>
                </a:solidFill>
              </a:rPr>
              <a:t>zaključivanje CNN (UDP/MQTT)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583680" y="1956816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5CAD"/>
                </a:solidFill>
              </a:rPr>
              <a:t>RNN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583680" y="224942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325A"/>
                </a:solidFill>
              </a:rPr>
              <a:t>bolji za sekvence, ali sporiji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6629400" y="288036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23" name="Text 20"/>
          <p:cNvSpPr/>
          <p:nvPr/>
        </p:nvSpPr>
        <p:spPr>
          <a:xfrm>
            <a:off x="6885432" y="2788920"/>
            <a:ext cx="43891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033"/>
                </a:solidFill>
              </a:rPr>
              <a:t>obrada ovisi o prethodnom vremenskom koraku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6629400" y="330098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25" name="Text 22"/>
          <p:cNvSpPr/>
          <p:nvPr/>
        </p:nvSpPr>
        <p:spPr>
          <a:xfrm>
            <a:off x="6885432" y="3209544"/>
            <a:ext cx="43891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033"/>
                </a:solidFill>
              </a:rPr>
              <a:t>više operacija i dulje izvođenje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6629400" y="372160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27" name="Text 24"/>
          <p:cNvSpPr/>
          <p:nvPr/>
        </p:nvSpPr>
        <p:spPr>
          <a:xfrm>
            <a:off x="6885432" y="3630168"/>
            <a:ext cx="43891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dirty="0" err="1">
                <a:solidFill>
                  <a:srgbClr val="172033"/>
                </a:solidFill>
              </a:rPr>
              <a:t>cijela</a:t>
            </a:r>
            <a:r>
              <a:rPr lang="en-US" sz="1450" dirty="0">
                <a:solidFill>
                  <a:srgbClr val="172033"/>
                </a:solidFill>
              </a:rPr>
              <a:t> faza oko 9 ms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7726680" y="495604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</a:rPr>
              <a:t>1,94 mJ</a:t>
            </a:r>
            <a:endParaRPr lang="en-US" sz="2800" dirty="0"/>
          </a:p>
        </p:txBody>
      </p:sp>
      <p:sp>
        <p:nvSpPr>
          <p:cNvPr id="29" name="Text 26"/>
          <p:cNvSpPr/>
          <p:nvPr/>
        </p:nvSpPr>
        <p:spPr>
          <a:xfrm>
            <a:off x="7726680" y="53675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97A"/>
                </a:solidFill>
              </a:rPr>
              <a:t>zaključivanje RNN (UDP/MQTT)</a:t>
            </a:r>
            <a:endParaRPr lang="en-US" sz="1050" dirty="0"/>
          </a:p>
        </p:txBody>
      </p:sp>
      <p:pic>
        <p:nvPicPr>
          <p:cNvPr id="30" name="Picture 29" descr="Screenshot 2026-06-27 at 20.29.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448"/>
            <a:ext cx="822960" cy="4520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5" name="Text 2"/>
          <p:cNvSpPr/>
          <p:nvPr/>
        </p:nvSpPr>
        <p:spPr>
          <a:xfrm>
            <a:off x="502920" y="647395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3"/>
                </a:solidFill>
              </a:rPr>
              <a:t>Završni rad · Nino Ljubas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147572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8493"/>
                </a:solidFill>
              </a:rPr>
              <a:t>7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261872" y="347472"/>
            <a:ext cx="987552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232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Mjerenje</a:t>
            </a:r>
            <a:r>
              <a:rPr lang="en-US" sz="3000" b="1" dirty="0">
                <a:solidFill>
                  <a:srgbClr val="1232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3000" b="1" dirty="0" err="1">
                <a:solidFill>
                  <a:srgbClr val="1232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potrošnje</a:t>
            </a:r>
            <a:r>
              <a:rPr lang="en-US" sz="3000" b="1" dirty="0">
                <a:solidFill>
                  <a:srgbClr val="1232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3000" b="1" dirty="0" err="1">
                <a:solidFill>
                  <a:srgbClr val="1232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energije</a:t>
            </a:r>
            <a:endParaRPr lang="en-US" sz="3000" dirty="0"/>
          </a:p>
        </p:txBody>
      </p:sp>
      <p:pic>
        <p:nvPicPr>
          <p:cNvPr id="8" name="Image 1" descr="/mnt/data/slide_assets/extracted/page34_img0.png"/>
          <p:cNvPicPr>
            <a:picLocks noChangeAspect="1"/>
          </p:cNvPicPr>
          <p:nvPr/>
        </p:nvPicPr>
        <p:blipFill>
          <a:blip r:embed="rId3"/>
          <a:srcRect l="854" r="854"/>
          <a:stretch/>
        </p:blipFill>
        <p:spPr>
          <a:xfrm>
            <a:off x="658368" y="1097280"/>
            <a:ext cx="6583680" cy="3886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513892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97A"/>
                </a:solidFill>
              </a:rPr>
              <a:t>Power Profiler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7635240" y="1170432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5CAD"/>
                </a:solidFill>
              </a:rPr>
              <a:t>IZRAČUN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7635240" y="153619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5C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 = U · I · t</a:t>
            </a:r>
            <a:endParaRPr lang="en-US" sz="3400" dirty="0"/>
          </a:p>
        </p:txBody>
      </p:sp>
      <p:sp>
        <p:nvSpPr>
          <p:cNvPr id="12" name="Shape 8"/>
          <p:cNvSpPr/>
          <p:nvPr/>
        </p:nvSpPr>
        <p:spPr>
          <a:xfrm>
            <a:off x="7955280" y="2606040"/>
            <a:ext cx="91440" cy="91440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3" name="Text 9"/>
          <p:cNvSpPr/>
          <p:nvPr/>
        </p:nvSpPr>
        <p:spPr>
          <a:xfrm>
            <a:off x="8211312" y="2514600"/>
            <a:ext cx="33375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33"/>
                </a:solidFill>
              </a:rPr>
              <a:t>U = 3,3 V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7955280" y="3063240"/>
            <a:ext cx="91440" cy="91440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5" name="Text 11"/>
          <p:cNvSpPr/>
          <p:nvPr/>
        </p:nvSpPr>
        <p:spPr>
          <a:xfrm>
            <a:off x="8211312" y="2971800"/>
            <a:ext cx="33375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33"/>
                </a:solidFill>
              </a:rPr>
              <a:t>I – prosječna struja u fazi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7955280" y="3520440"/>
            <a:ext cx="91440" cy="91440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7" name="Text 13"/>
          <p:cNvSpPr/>
          <p:nvPr/>
        </p:nvSpPr>
        <p:spPr>
          <a:xfrm>
            <a:off x="8211312" y="3429000"/>
            <a:ext cx="33375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33"/>
                </a:solidFill>
              </a:rPr>
              <a:t>t – trajanje faze</a:t>
            </a:r>
            <a:endParaRPr lang="en-US" sz="1550" dirty="0"/>
          </a:p>
        </p:txBody>
      </p:sp>
      <p:sp>
        <p:nvSpPr>
          <p:cNvPr id="18" name="Shape 14"/>
          <p:cNvSpPr/>
          <p:nvPr/>
        </p:nvSpPr>
        <p:spPr>
          <a:xfrm>
            <a:off x="7955280" y="3977640"/>
            <a:ext cx="91440" cy="91440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9" name="Text 15"/>
          <p:cNvSpPr/>
          <p:nvPr/>
        </p:nvSpPr>
        <p:spPr>
          <a:xfrm>
            <a:off x="8211312" y="3886200"/>
            <a:ext cx="33375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33"/>
                </a:solidFill>
              </a:rPr>
              <a:t>rezultat izražen u mJ</a:t>
            </a:r>
            <a:endParaRPr lang="en-US" sz="1550" dirty="0"/>
          </a:p>
        </p:txBody>
      </p:sp>
      <p:sp>
        <p:nvSpPr>
          <p:cNvPr id="20" name="Text 16"/>
          <p:cNvSpPr/>
          <p:nvPr/>
        </p:nvSpPr>
        <p:spPr>
          <a:xfrm>
            <a:off x="7635240" y="484632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2325A"/>
                </a:solidFill>
              </a:rPr>
              <a:t>Mjerenje je ponovljeno po fazama: mirovanje, DHT11, zaključivanje modela i slanje podataka.</a:t>
            </a:r>
            <a:endParaRPr lang="en-US" sz="1450" dirty="0"/>
          </a:p>
        </p:txBody>
      </p:sp>
      <p:pic>
        <p:nvPicPr>
          <p:cNvPr id="21" name="Picture 20" descr="Screenshot 2026-06-27 at 20.29.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6020"/>
            <a:ext cx="822960" cy="4520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5" name="Text 2"/>
          <p:cNvSpPr/>
          <p:nvPr/>
        </p:nvSpPr>
        <p:spPr>
          <a:xfrm>
            <a:off x="502920" y="647395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3"/>
                </a:solidFill>
              </a:rPr>
              <a:t>Završni rad · Nino Ljubas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147572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8493"/>
                </a:solidFill>
              </a:rPr>
              <a:t>8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261872" y="347472"/>
            <a:ext cx="987552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232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Utjecaj</a:t>
            </a:r>
            <a:r>
              <a:rPr lang="en-US" sz="3000" b="1" dirty="0">
                <a:solidFill>
                  <a:srgbClr val="1232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komunikacijskog protokola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68680" y="143560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2325A"/>
                </a:solidFill>
              </a:rPr>
              <a:t>Potrošnja</a:t>
            </a:r>
            <a:r>
              <a:rPr lang="en-US" sz="1400" b="1" dirty="0">
                <a:solidFill>
                  <a:srgbClr val="12325A"/>
                </a:solidFill>
              </a:rPr>
              <a:t> </a:t>
            </a:r>
            <a:r>
              <a:rPr lang="en-US" sz="1400" b="1" dirty="0" err="1">
                <a:solidFill>
                  <a:srgbClr val="12325A"/>
                </a:solidFill>
              </a:rPr>
              <a:t>energije</a:t>
            </a:r>
            <a:r>
              <a:rPr lang="en-US" sz="1400" b="1" dirty="0">
                <a:solidFill>
                  <a:srgbClr val="12325A"/>
                </a:solidFill>
              </a:rPr>
              <a:t> </a:t>
            </a:r>
            <a:r>
              <a:rPr lang="en-US" sz="1400" b="1" dirty="0" err="1">
                <a:solidFill>
                  <a:srgbClr val="12325A"/>
                </a:solidFill>
              </a:rPr>
              <a:t>kod</a:t>
            </a:r>
            <a:r>
              <a:rPr lang="en-US" sz="1400" b="1" dirty="0">
                <a:solidFill>
                  <a:srgbClr val="12325A"/>
                </a:solidFill>
              </a:rPr>
              <a:t> slanja podataka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5029200"/>
            <a:ext cx="53035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0" name="Shape 7"/>
          <p:cNvSpPr/>
          <p:nvPr/>
        </p:nvSpPr>
        <p:spPr>
          <a:xfrm>
            <a:off x="1469136" y="4848606"/>
            <a:ext cx="566928" cy="180594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1" name="Text 8"/>
          <p:cNvSpPr/>
          <p:nvPr/>
        </p:nvSpPr>
        <p:spPr>
          <a:xfrm>
            <a:off x="1377696" y="45742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033"/>
                </a:solidFill>
              </a:rPr>
              <a:t>0,79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286256" y="513892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97A"/>
                </a:solidFill>
              </a:rPr>
              <a:t>UDP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36976" y="4866894"/>
            <a:ext cx="566928" cy="162306"/>
          </a:xfrm>
          <a:prstGeom prst="rect">
            <a:avLst/>
          </a:prstGeom>
          <a:solidFill>
            <a:srgbClr val="35A853"/>
          </a:solidFill>
          <a:ln w="12700">
            <a:solidFill>
              <a:srgbClr val="35A85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4" name="Text 11"/>
          <p:cNvSpPr/>
          <p:nvPr/>
        </p:nvSpPr>
        <p:spPr>
          <a:xfrm>
            <a:off x="3145536" y="459257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033"/>
                </a:solidFill>
              </a:rPr>
              <a:t>0,71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054096" y="513892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97A"/>
                </a:solidFill>
              </a:rPr>
              <a:t>MQTT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04816" y="2176272"/>
            <a:ext cx="566928" cy="2852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7" name="Text 14"/>
          <p:cNvSpPr/>
          <p:nvPr/>
        </p:nvSpPr>
        <p:spPr>
          <a:xfrm>
            <a:off x="4913376" y="190195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033"/>
                </a:solidFill>
              </a:rPr>
              <a:t>12,48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821936" y="513892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97A"/>
                </a:solidFill>
              </a:rPr>
              <a:t>TCP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995160" y="1280160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995160" y="1645920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25A"/>
                </a:solidFill>
              </a:rPr>
              <a:t>TCP znatno povećava potrošnju aktivnog dijela ciklusa.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7040880" y="2880360"/>
            <a:ext cx="91440" cy="914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22" name="Text 19"/>
          <p:cNvSpPr/>
          <p:nvPr/>
        </p:nvSpPr>
        <p:spPr>
          <a:xfrm>
            <a:off x="7296912" y="2788920"/>
            <a:ext cx="41148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033"/>
                </a:solidFill>
              </a:rPr>
              <a:t>UDP i MQTT </a:t>
            </a:r>
            <a:r>
              <a:rPr lang="en-US" sz="1450" dirty="0" err="1">
                <a:solidFill>
                  <a:srgbClr val="172033"/>
                </a:solidFill>
              </a:rPr>
              <a:t>imaju</a:t>
            </a:r>
            <a:r>
              <a:rPr lang="en-US" sz="1450" dirty="0">
                <a:solidFill>
                  <a:srgbClr val="172033"/>
                </a:solidFill>
              </a:rPr>
              <a:t> </a:t>
            </a:r>
            <a:r>
              <a:rPr lang="en-US" sz="1450" dirty="0" err="1">
                <a:solidFill>
                  <a:srgbClr val="172033"/>
                </a:solidFill>
              </a:rPr>
              <a:t>kratko</a:t>
            </a:r>
            <a:r>
              <a:rPr lang="en-US" sz="1450" dirty="0">
                <a:solidFill>
                  <a:srgbClr val="172033"/>
                </a:solidFill>
              </a:rPr>
              <a:t> </a:t>
            </a:r>
            <a:r>
              <a:rPr lang="en-US" sz="1450" dirty="0" err="1">
                <a:solidFill>
                  <a:srgbClr val="172033"/>
                </a:solidFill>
              </a:rPr>
              <a:t>slanje</a:t>
            </a:r>
            <a:r>
              <a:rPr lang="en-US" sz="1450" dirty="0">
                <a:solidFill>
                  <a:srgbClr val="172033"/>
                </a:solidFill>
              </a:rPr>
              <a:t> ~ 2,3–2,4 ms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7040880" y="3410712"/>
            <a:ext cx="91440" cy="914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24" name="Text 21"/>
          <p:cNvSpPr/>
          <p:nvPr/>
        </p:nvSpPr>
        <p:spPr>
          <a:xfrm>
            <a:off x="7296912" y="3319272"/>
            <a:ext cx="41148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033"/>
                </a:solidFill>
              </a:rPr>
              <a:t>TCP </a:t>
            </a:r>
            <a:r>
              <a:rPr lang="en-US" sz="1450" dirty="0" err="1">
                <a:solidFill>
                  <a:srgbClr val="172033"/>
                </a:solidFill>
              </a:rPr>
              <a:t>traje</a:t>
            </a:r>
            <a:r>
              <a:rPr lang="en-US" sz="1450" dirty="0">
                <a:solidFill>
                  <a:srgbClr val="172033"/>
                </a:solidFill>
              </a:rPr>
              <a:t> </a:t>
            </a:r>
            <a:r>
              <a:rPr lang="en-US" sz="1450" dirty="0" err="1">
                <a:solidFill>
                  <a:srgbClr val="172033"/>
                </a:solidFill>
              </a:rPr>
              <a:t>duže</a:t>
            </a:r>
            <a:r>
              <a:rPr lang="en-US" sz="1450" dirty="0">
                <a:solidFill>
                  <a:srgbClr val="172033"/>
                </a:solidFill>
              </a:rPr>
              <a:t> zbog uspostave veze i pouzdanosti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7040880" y="3941064"/>
            <a:ext cx="91440" cy="914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26" name="Text 23"/>
          <p:cNvSpPr/>
          <p:nvPr/>
        </p:nvSpPr>
        <p:spPr>
          <a:xfrm>
            <a:off x="7296912" y="3849624"/>
            <a:ext cx="41148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033"/>
                </a:solidFill>
              </a:rPr>
              <a:t>MQTT je u ovom mjerenju imao najmanju energiju slanja: 0,71 mJ</a:t>
            </a:r>
            <a:endParaRPr lang="en-US" sz="1450" dirty="0"/>
          </a:p>
        </p:txBody>
      </p:sp>
      <p:pic>
        <p:nvPicPr>
          <p:cNvPr id="27" name="Picture 26" descr="Screenshot 2026-06-27 at 20.29.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448"/>
            <a:ext cx="822960" cy="4520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5" name="Text 2"/>
          <p:cNvSpPr/>
          <p:nvPr/>
        </p:nvSpPr>
        <p:spPr>
          <a:xfrm>
            <a:off x="502920" y="647395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3"/>
                </a:solidFill>
              </a:rPr>
              <a:t>Završni rad · Nino Ljubas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147572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8493"/>
                </a:solidFill>
              </a:rPr>
              <a:t>9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261872" y="347472"/>
            <a:ext cx="987552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232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Rezultat</a:t>
            </a:r>
            <a:r>
              <a:rPr lang="en-US" sz="3000" b="1" dirty="0">
                <a:solidFill>
                  <a:srgbClr val="1232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: aktivni dio radnog ciklusa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85800" y="987552"/>
            <a:ext cx="6629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25A"/>
                </a:solidFill>
              </a:rPr>
              <a:t>Energija aktivnih faza ciklusa (mJ)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145389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</a:rPr>
              <a:t>CNN + UDP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011680" y="1444752"/>
            <a:ext cx="996696" cy="256032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1" name="Shape 8"/>
          <p:cNvSpPr/>
          <p:nvPr/>
        </p:nvSpPr>
        <p:spPr>
          <a:xfrm>
            <a:off x="3008376" y="1444752"/>
            <a:ext cx="196596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2" name="Shape 9"/>
          <p:cNvSpPr/>
          <p:nvPr/>
        </p:nvSpPr>
        <p:spPr>
          <a:xfrm>
            <a:off x="3204972" y="1444752"/>
            <a:ext cx="180594" cy="256032"/>
          </a:xfrm>
          <a:prstGeom prst="rect">
            <a:avLst/>
          </a:prstGeom>
          <a:solidFill>
            <a:srgbClr val="35A853"/>
          </a:solidFill>
          <a:ln w="12700">
            <a:solidFill>
              <a:srgbClr val="35A85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3" name="Text 10"/>
          <p:cNvSpPr/>
          <p:nvPr/>
        </p:nvSpPr>
        <p:spPr>
          <a:xfrm>
            <a:off x="3477006" y="14630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2033"/>
                </a:solidFill>
              </a:rPr>
              <a:t>6,01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85800" y="211683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</a:rPr>
              <a:t>CNN + MQTT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011680" y="2107692"/>
            <a:ext cx="996696" cy="256032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6" name="Shape 13"/>
          <p:cNvSpPr/>
          <p:nvPr/>
        </p:nvSpPr>
        <p:spPr>
          <a:xfrm>
            <a:off x="3008376" y="2107692"/>
            <a:ext cx="196596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7" name="Shape 14"/>
          <p:cNvSpPr/>
          <p:nvPr/>
        </p:nvSpPr>
        <p:spPr>
          <a:xfrm>
            <a:off x="3204972" y="2107692"/>
            <a:ext cx="162306" cy="256032"/>
          </a:xfrm>
          <a:prstGeom prst="rect">
            <a:avLst/>
          </a:prstGeom>
          <a:solidFill>
            <a:srgbClr val="35A853"/>
          </a:solidFill>
          <a:ln w="12700">
            <a:solidFill>
              <a:srgbClr val="35A85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8" name="Text 15"/>
          <p:cNvSpPr/>
          <p:nvPr/>
        </p:nvSpPr>
        <p:spPr>
          <a:xfrm>
            <a:off x="3458718" y="21259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2033"/>
                </a:solidFill>
              </a:rPr>
              <a:t>5,93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85800" y="285292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</a:rPr>
              <a:t>CNN + TCP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011680" y="2770632"/>
            <a:ext cx="1266444" cy="256032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21" name="Shape 18"/>
          <p:cNvSpPr/>
          <p:nvPr/>
        </p:nvSpPr>
        <p:spPr>
          <a:xfrm>
            <a:off x="3278124" y="2770632"/>
            <a:ext cx="22860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22" name="Shape 19"/>
          <p:cNvSpPr/>
          <p:nvPr/>
        </p:nvSpPr>
        <p:spPr>
          <a:xfrm>
            <a:off x="3506724" y="2770632"/>
            <a:ext cx="2852928" cy="256032"/>
          </a:xfrm>
          <a:prstGeom prst="rect">
            <a:avLst/>
          </a:prstGeom>
          <a:solidFill>
            <a:srgbClr val="35A853"/>
          </a:solidFill>
          <a:ln w="12700">
            <a:solidFill>
              <a:srgbClr val="35A85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23" name="Text 20"/>
          <p:cNvSpPr/>
          <p:nvPr/>
        </p:nvSpPr>
        <p:spPr>
          <a:xfrm>
            <a:off x="6451092" y="2788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2033"/>
                </a:solidFill>
              </a:rPr>
              <a:t>19,02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85800" y="344271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</a:rPr>
              <a:t>RNN + UDP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2011680" y="3433572"/>
            <a:ext cx="996696" cy="256032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26" name="Shape 23"/>
          <p:cNvSpPr/>
          <p:nvPr/>
        </p:nvSpPr>
        <p:spPr>
          <a:xfrm>
            <a:off x="3008376" y="3433572"/>
            <a:ext cx="44348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27" name="Shape 24"/>
          <p:cNvSpPr/>
          <p:nvPr/>
        </p:nvSpPr>
        <p:spPr>
          <a:xfrm>
            <a:off x="3451860" y="3433572"/>
            <a:ext cx="180594" cy="256032"/>
          </a:xfrm>
          <a:prstGeom prst="rect">
            <a:avLst/>
          </a:prstGeom>
          <a:solidFill>
            <a:srgbClr val="35A853"/>
          </a:solidFill>
          <a:ln w="12700">
            <a:solidFill>
              <a:srgbClr val="35A85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28" name="Text 25"/>
          <p:cNvSpPr/>
          <p:nvPr/>
        </p:nvSpPr>
        <p:spPr>
          <a:xfrm>
            <a:off x="3723894" y="34518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2033"/>
                </a:solidFill>
              </a:rPr>
              <a:t>7,09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85800" y="410565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</a:rPr>
              <a:t>RNN + MQTT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2011680" y="4096512"/>
            <a:ext cx="996696" cy="256032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31" name="Shape 28"/>
          <p:cNvSpPr/>
          <p:nvPr/>
        </p:nvSpPr>
        <p:spPr>
          <a:xfrm>
            <a:off x="3008376" y="4096512"/>
            <a:ext cx="44348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32" name="Shape 29"/>
          <p:cNvSpPr/>
          <p:nvPr/>
        </p:nvSpPr>
        <p:spPr>
          <a:xfrm>
            <a:off x="3451860" y="4096512"/>
            <a:ext cx="162306" cy="256032"/>
          </a:xfrm>
          <a:prstGeom prst="rect">
            <a:avLst/>
          </a:prstGeom>
          <a:solidFill>
            <a:srgbClr val="35A853"/>
          </a:solidFill>
          <a:ln w="12700">
            <a:solidFill>
              <a:srgbClr val="35A85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33" name="Text 30"/>
          <p:cNvSpPr/>
          <p:nvPr/>
        </p:nvSpPr>
        <p:spPr>
          <a:xfrm>
            <a:off x="3705606" y="41148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2033"/>
                </a:solidFill>
              </a:rPr>
              <a:t>7,01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85800" y="476859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</a:rPr>
              <a:t>RNN + TCP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2011680" y="4759452"/>
            <a:ext cx="1266444" cy="256032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36" name="Shape 33"/>
          <p:cNvSpPr/>
          <p:nvPr/>
        </p:nvSpPr>
        <p:spPr>
          <a:xfrm>
            <a:off x="3278124" y="4759452"/>
            <a:ext cx="45034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37" name="Shape 34"/>
          <p:cNvSpPr/>
          <p:nvPr/>
        </p:nvSpPr>
        <p:spPr>
          <a:xfrm>
            <a:off x="3728466" y="4759452"/>
            <a:ext cx="2852928" cy="256032"/>
          </a:xfrm>
          <a:prstGeom prst="rect">
            <a:avLst/>
          </a:prstGeom>
          <a:solidFill>
            <a:srgbClr val="35A853"/>
          </a:solidFill>
          <a:ln w="12700">
            <a:solidFill>
              <a:srgbClr val="35A85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38" name="Text 35"/>
          <p:cNvSpPr/>
          <p:nvPr/>
        </p:nvSpPr>
        <p:spPr>
          <a:xfrm>
            <a:off x="6672834" y="47777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2033"/>
                </a:solidFill>
              </a:rPr>
              <a:t>19,99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2011680" y="5495544"/>
            <a:ext cx="146304" cy="146304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40" name="Text 37"/>
          <p:cNvSpPr/>
          <p:nvPr/>
        </p:nvSpPr>
        <p:spPr>
          <a:xfrm>
            <a:off x="2194560" y="546811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97A"/>
                </a:solidFill>
              </a:rPr>
              <a:t>Mjerenje DHT11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337560" y="5495544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42" name="Text 39"/>
          <p:cNvSpPr/>
          <p:nvPr/>
        </p:nvSpPr>
        <p:spPr>
          <a:xfrm>
            <a:off x="3520440" y="546811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97A"/>
                </a:solidFill>
              </a:rPr>
              <a:t>Zaključivanje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663440" y="5495544"/>
            <a:ext cx="146304" cy="146304"/>
          </a:xfrm>
          <a:prstGeom prst="rect">
            <a:avLst/>
          </a:prstGeom>
          <a:solidFill>
            <a:srgbClr val="35A853"/>
          </a:solidFill>
          <a:ln w="12700">
            <a:solidFill>
              <a:srgbClr val="35A85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44" name="Text 41"/>
          <p:cNvSpPr/>
          <p:nvPr/>
        </p:nvSpPr>
        <p:spPr>
          <a:xfrm>
            <a:off x="4846320" y="546811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97A"/>
                </a:solidFill>
              </a:rPr>
              <a:t>Slanje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726680" y="1234440"/>
            <a:ext cx="0" cy="466344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46" name="Text 43"/>
          <p:cNvSpPr/>
          <p:nvPr/>
        </p:nvSpPr>
        <p:spPr>
          <a:xfrm>
            <a:off x="8065008" y="129844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8119872" y="1810512"/>
            <a:ext cx="91440" cy="91440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48" name="Text 45"/>
          <p:cNvSpPr/>
          <p:nvPr/>
        </p:nvSpPr>
        <p:spPr>
          <a:xfrm>
            <a:off x="8375904" y="1719072"/>
            <a:ext cx="32918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dirty="0" err="1">
                <a:solidFill>
                  <a:srgbClr val="172033"/>
                </a:solidFill>
              </a:rPr>
              <a:t>mirovanje</a:t>
            </a:r>
            <a:r>
              <a:rPr lang="en-US" sz="1400" dirty="0">
                <a:solidFill>
                  <a:srgbClr val="172033"/>
                </a:solidFill>
              </a:rPr>
              <a:t> je najveći dio ukupne </a:t>
            </a:r>
            <a:r>
              <a:rPr lang="en-US" sz="1400" dirty="0" err="1">
                <a:solidFill>
                  <a:srgbClr val="172033"/>
                </a:solidFill>
              </a:rPr>
              <a:t>energije</a:t>
            </a:r>
            <a:r>
              <a:rPr lang="en-US" sz="1400" dirty="0">
                <a:solidFill>
                  <a:srgbClr val="172033"/>
                </a:solidFill>
              </a:rPr>
              <a:t> </a:t>
            </a:r>
            <a:r>
              <a:rPr lang="en-US" sz="1400" dirty="0" err="1">
                <a:solidFill>
                  <a:srgbClr val="172033"/>
                </a:solidFill>
              </a:rPr>
              <a:t>zbog</a:t>
            </a:r>
            <a:r>
              <a:rPr lang="en-US" sz="1400" dirty="0">
                <a:solidFill>
                  <a:srgbClr val="172033"/>
                </a:solidFill>
              </a:rPr>
              <a:t> </a:t>
            </a:r>
            <a:r>
              <a:rPr lang="en-US" sz="1400" dirty="0" err="1">
                <a:solidFill>
                  <a:srgbClr val="172033"/>
                </a:solidFill>
              </a:rPr>
              <a:t>trajanja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8119872" y="2331720"/>
            <a:ext cx="91440" cy="91440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50" name="Text 47"/>
          <p:cNvSpPr/>
          <p:nvPr/>
        </p:nvSpPr>
        <p:spPr>
          <a:xfrm>
            <a:off x="8375904" y="2240280"/>
            <a:ext cx="32918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</a:rPr>
              <a:t>u aktivnim </a:t>
            </a:r>
            <a:r>
              <a:rPr lang="en-US" sz="1300" dirty="0" err="1">
                <a:solidFill>
                  <a:srgbClr val="172033"/>
                </a:solidFill>
              </a:rPr>
              <a:t>fazama</a:t>
            </a:r>
            <a:r>
              <a:rPr lang="en-US" sz="1300" dirty="0">
                <a:solidFill>
                  <a:srgbClr val="172033"/>
                </a:solidFill>
              </a:rPr>
              <a:t> TCP </a:t>
            </a:r>
            <a:r>
              <a:rPr lang="en-US" sz="1300" dirty="0" err="1">
                <a:solidFill>
                  <a:srgbClr val="172033"/>
                </a:solidFill>
              </a:rPr>
              <a:t>najveći</a:t>
            </a:r>
            <a:r>
              <a:rPr lang="en-US" sz="1300" dirty="0">
                <a:solidFill>
                  <a:srgbClr val="172033"/>
                </a:solidFill>
              </a:rPr>
              <a:t> </a:t>
            </a:r>
            <a:r>
              <a:rPr lang="en-US" sz="1300" dirty="0" err="1">
                <a:solidFill>
                  <a:srgbClr val="172033"/>
                </a:solidFill>
              </a:rPr>
              <a:t>potrošač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8119872" y="2852928"/>
            <a:ext cx="91440" cy="91440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52" name="Text 49"/>
          <p:cNvSpPr/>
          <p:nvPr/>
        </p:nvSpPr>
        <p:spPr>
          <a:xfrm>
            <a:off x="8375904" y="2761488"/>
            <a:ext cx="32918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RNN troši više od CNN zbog duljeg zaključivanja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8119872" y="3374136"/>
            <a:ext cx="91440" cy="91440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54" name="Text 51"/>
          <p:cNvSpPr/>
          <p:nvPr/>
        </p:nvSpPr>
        <p:spPr>
          <a:xfrm>
            <a:off x="8375904" y="3282696"/>
            <a:ext cx="32918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</a:rPr>
              <a:t>UDP i MQTT su energetski </a:t>
            </a:r>
            <a:r>
              <a:rPr lang="en-US" sz="1300" dirty="0" err="1">
                <a:solidFill>
                  <a:srgbClr val="172033"/>
                </a:solidFill>
              </a:rPr>
              <a:t>vrlo</a:t>
            </a:r>
            <a:r>
              <a:rPr lang="en-US" sz="1300" dirty="0">
                <a:solidFill>
                  <a:srgbClr val="172033"/>
                </a:solidFill>
              </a:rPr>
              <a:t> </a:t>
            </a:r>
            <a:r>
              <a:rPr lang="en-US" sz="1300" dirty="0" err="1">
                <a:solidFill>
                  <a:srgbClr val="172033"/>
                </a:solidFill>
              </a:rPr>
              <a:t>blizu</a:t>
            </a:r>
            <a:endParaRPr lang="en-US" sz="1300" dirty="0"/>
          </a:p>
        </p:txBody>
      </p:sp>
      <p:sp>
        <p:nvSpPr>
          <p:cNvPr id="55" name="Text 52"/>
          <p:cNvSpPr/>
          <p:nvPr/>
        </p:nvSpPr>
        <p:spPr>
          <a:xfrm>
            <a:off x="8065008" y="50749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2325A"/>
                </a:solidFill>
              </a:rPr>
              <a:t>Najveća razlika </a:t>
            </a:r>
            <a:r>
              <a:rPr lang="en-US" sz="1550" b="1" dirty="0" err="1">
                <a:solidFill>
                  <a:srgbClr val="12325A"/>
                </a:solidFill>
              </a:rPr>
              <a:t>nije</a:t>
            </a:r>
            <a:r>
              <a:rPr lang="en-US" sz="1550" b="1" dirty="0">
                <a:solidFill>
                  <a:srgbClr val="12325A"/>
                </a:solidFill>
              </a:rPr>
              <a:t> u </a:t>
            </a:r>
            <a:r>
              <a:rPr lang="en-US" sz="1550" b="1" dirty="0" err="1">
                <a:solidFill>
                  <a:srgbClr val="12325A"/>
                </a:solidFill>
              </a:rPr>
              <a:t>prosječnoj</a:t>
            </a:r>
            <a:r>
              <a:rPr lang="en-US" sz="1550" b="1" dirty="0">
                <a:solidFill>
                  <a:srgbClr val="12325A"/>
                </a:solidFill>
              </a:rPr>
              <a:t> struji, nego u </a:t>
            </a:r>
            <a:r>
              <a:rPr lang="en-US" sz="1550" b="1" dirty="0" err="1">
                <a:solidFill>
                  <a:srgbClr val="12325A"/>
                </a:solidFill>
              </a:rPr>
              <a:t>trajanju</a:t>
            </a:r>
            <a:r>
              <a:rPr lang="en-US" sz="1550" b="1" dirty="0">
                <a:solidFill>
                  <a:srgbClr val="12325A"/>
                </a:solidFill>
              </a:rPr>
              <a:t> </a:t>
            </a:r>
            <a:r>
              <a:rPr lang="en-US" sz="1550" b="1" dirty="0" err="1">
                <a:solidFill>
                  <a:srgbClr val="12325A"/>
                </a:solidFill>
              </a:rPr>
              <a:t>faza</a:t>
            </a:r>
            <a:r>
              <a:rPr lang="en-US" sz="1550" b="1" dirty="0">
                <a:solidFill>
                  <a:srgbClr val="12325A"/>
                </a:solidFill>
              </a:rPr>
              <a:t>.</a:t>
            </a:r>
            <a:endParaRPr lang="en-US" sz="1550" dirty="0"/>
          </a:p>
        </p:txBody>
      </p:sp>
      <p:pic>
        <p:nvPicPr>
          <p:cNvPr id="56" name="Picture 55" descr="Screenshot 2026-06-27 at 20.29.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444"/>
            <a:ext cx="822960" cy="4520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6" name="Text 3"/>
          <p:cNvSpPr/>
          <p:nvPr/>
        </p:nvSpPr>
        <p:spPr>
          <a:xfrm>
            <a:off x="1261872" y="347472"/>
            <a:ext cx="987552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Zaključak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77240" y="11704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051560" y="2331720"/>
            <a:ext cx="91440" cy="9144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9" name="Text 6"/>
          <p:cNvSpPr/>
          <p:nvPr/>
        </p:nvSpPr>
        <p:spPr>
          <a:xfrm>
            <a:off x="1307592" y="2240280"/>
            <a:ext cx="89611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solidFill>
                  <a:srgbClr val="F2F5F9"/>
                </a:solidFill>
              </a:rPr>
              <a:t>Lokalno</a:t>
            </a:r>
            <a:r>
              <a:rPr lang="en-US" sz="1800" dirty="0">
                <a:solidFill>
                  <a:srgbClr val="F2F5F9"/>
                </a:solidFill>
              </a:rPr>
              <a:t> </a:t>
            </a:r>
            <a:r>
              <a:rPr lang="en-US" sz="1800" dirty="0" err="1">
                <a:solidFill>
                  <a:srgbClr val="F2F5F9"/>
                </a:solidFill>
              </a:rPr>
              <a:t>zaključivanje</a:t>
            </a:r>
            <a:r>
              <a:rPr lang="en-US" sz="1800" dirty="0">
                <a:solidFill>
                  <a:srgbClr val="F2F5F9"/>
                </a:solidFill>
              </a:rPr>
              <a:t> </a:t>
            </a:r>
            <a:r>
              <a:rPr lang="en-US" sz="1800" dirty="0" err="1">
                <a:solidFill>
                  <a:srgbClr val="F2F5F9"/>
                </a:solidFill>
              </a:rPr>
              <a:t>modela</a:t>
            </a:r>
            <a:r>
              <a:rPr lang="en-US" sz="1800" dirty="0">
                <a:solidFill>
                  <a:srgbClr val="F2F5F9"/>
                </a:solidFill>
              </a:rPr>
              <a:t> </a:t>
            </a:r>
            <a:r>
              <a:rPr lang="en-US" sz="1800" dirty="0" err="1">
                <a:solidFill>
                  <a:srgbClr val="F2F5F9"/>
                </a:solidFill>
              </a:rPr>
              <a:t>umjetne</a:t>
            </a:r>
            <a:r>
              <a:rPr lang="en-US" sz="1800" dirty="0">
                <a:solidFill>
                  <a:srgbClr val="F2F5F9"/>
                </a:solidFill>
              </a:rPr>
              <a:t> </a:t>
            </a:r>
            <a:r>
              <a:rPr lang="en-US" sz="1800" dirty="0" err="1">
                <a:solidFill>
                  <a:srgbClr val="F2F5F9"/>
                </a:solidFill>
              </a:rPr>
              <a:t>inteligencije</a:t>
            </a:r>
            <a:r>
              <a:rPr lang="en-US" sz="1800" dirty="0">
                <a:solidFill>
                  <a:srgbClr val="F2F5F9"/>
                </a:solidFill>
              </a:rPr>
              <a:t> </a:t>
            </a:r>
            <a:r>
              <a:rPr lang="en-US" sz="1800" dirty="0" err="1">
                <a:solidFill>
                  <a:srgbClr val="F2F5F9"/>
                </a:solidFill>
              </a:rPr>
              <a:t>donosi</a:t>
            </a:r>
            <a:r>
              <a:rPr lang="en-US" sz="1800" dirty="0">
                <a:solidFill>
                  <a:srgbClr val="F2F5F9"/>
                </a:solidFill>
              </a:rPr>
              <a:t> </a:t>
            </a:r>
            <a:r>
              <a:rPr lang="en-US" sz="1800" dirty="0" err="1">
                <a:solidFill>
                  <a:srgbClr val="F2F5F9"/>
                </a:solidFill>
              </a:rPr>
              <a:t>benefite</a:t>
            </a:r>
            <a:r>
              <a:rPr lang="en-US" sz="1800" dirty="0">
                <a:solidFill>
                  <a:srgbClr val="F2F5F9"/>
                </a:solidFill>
              </a:rPr>
              <a:t> (</a:t>
            </a:r>
            <a:r>
              <a:rPr lang="en-US" sz="1800" dirty="0" err="1">
                <a:solidFill>
                  <a:srgbClr val="F2F5F9"/>
                </a:solidFill>
              </a:rPr>
              <a:t>potrošnja</a:t>
            </a:r>
            <a:r>
              <a:rPr lang="en-US" sz="1800" dirty="0">
                <a:solidFill>
                  <a:srgbClr val="F2F5F9"/>
                </a:solidFill>
              </a:rPr>
              <a:t>, </a:t>
            </a:r>
            <a:r>
              <a:rPr lang="en-US" sz="1800" dirty="0" err="1">
                <a:solidFill>
                  <a:srgbClr val="F2F5F9"/>
                </a:solidFill>
              </a:rPr>
              <a:t>sigurnost</a:t>
            </a:r>
            <a:r>
              <a:rPr lang="en-US" sz="1800" dirty="0">
                <a:solidFill>
                  <a:srgbClr val="F2F5F9"/>
                </a:solidFill>
              </a:rPr>
              <a:t>…)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051560" y="2898648"/>
            <a:ext cx="91440" cy="9144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1" name="Text 8"/>
          <p:cNvSpPr/>
          <p:nvPr/>
        </p:nvSpPr>
        <p:spPr>
          <a:xfrm>
            <a:off x="1307592" y="2807208"/>
            <a:ext cx="89611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2F5F9"/>
                </a:solidFill>
              </a:rPr>
              <a:t>RNN </a:t>
            </a:r>
            <a:r>
              <a:rPr lang="en-US" sz="1800" dirty="0" err="1">
                <a:solidFill>
                  <a:srgbClr val="F2F5F9"/>
                </a:solidFill>
              </a:rPr>
              <a:t>ima</a:t>
            </a:r>
            <a:r>
              <a:rPr lang="en-US" sz="1800" dirty="0">
                <a:solidFill>
                  <a:srgbClr val="F2F5F9"/>
                </a:solidFill>
              </a:rPr>
              <a:t> </a:t>
            </a:r>
            <a:r>
              <a:rPr lang="en-US" sz="1800" dirty="0" err="1">
                <a:solidFill>
                  <a:srgbClr val="F2F5F9"/>
                </a:solidFill>
              </a:rPr>
              <a:t>veću</a:t>
            </a:r>
            <a:r>
              <a:rPr lang="en-US" sz="1800" dirty="0">
                <a:solidFill>
                  <a:srgbClr val="F2F5F9"/>
                </a:solidFill>
              </a:rPr>
              <a:t> </a:t>
            </a:r>
            <a:r>
              <a:rPr lang="en-US" sz="1800" dirty="0" err="1">
                <a:solidFill>
                  <a:srgbClr val="F2F5F9"/>
                </a:solidFill>
              </a:rPr>
              <a:t>potrošnju</a:t>
            </a:r>
            <a:r>
              <a:rPr lang="en-US" sz="1800" dirty="0">
                <a:solidFill>
                  <a:srgbClr val="F2F5F9"/>
                </a:solidFill>
              </a:rPr>
              <a:t> od CNN zbog duljeg izvođenja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051560" y="3465576"/>
            <a:ext cx="91440" cy="9144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3" name="Text 10"/>
          <p:cNvSpPr/>
          <p:nvPr/>
        </p:nvSpPr>
        <p:spPr>
          <a:xfrm>
            <a:off x="1307592" y="3374136"/>
            <a:ext cx="89611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2F5F9"/>
                </a:solidFill>
              </a:rPr>
              <a:t>TCP </a:t>
            </a:r>
            <a:r>
              <a:rPr lang="en-US" sz="1800" dirty="0" err="1">
                <a:solidFill>
                  <a:srgbClr val="F2F5F9"/>
                </a:solidFill>
              </a:rPr>
              <a:t>značajno</a:t>
            </a:r>
            <a:r>
              <a:rPr lang="en-US" sz="1800" dirty="0">
                <a:solidFill>
                  <a:srgbClr val="F2F5F9"/>
                </a:solidFill>
              </a:rPr>
              <a:t> </a:t>
            </a:r>
            <a:r>
              <a:rPr lang="en-US" sz="1800" dirty="0" err="1">
                <a:solidFill>
                  <a:srgbClr val="F2F5F9"/>
                </a:solidFill>
              </a:rPr>
              <a:t>povećava</a:t>
            </a:r>
            <a:r>
              <a:rPr lang="en-US" sz="1800" dirty="0">
                <a:solidFill>
                  <a:srgbClr val="F2F5F9"/>
                </a:solidFill>
              </a:rPr>
              <a:t> </a:t>
            </a:r>
            <a:r>
              <a:rPr lang="en-US" sz="1800" dirty="0" err="1">
                <a:solidFill>
                  <a:srgbClr val="F2F5F9"/>
                </a:solidFill>
              </a:rPr>
              <a:t>potrošnju</a:t>
            </a:r>
            <a:r>
              <a:rPr lang="en-US" sz="1800" dirty="0">
                <a:solidFill>
                  <a:srgbClr val="F2F5F9"/>
                </a:solidFill>
              </a:rPr>
              <a:t> </a:t>
            </a:r>
            <a:r>
              <a:rPr lang="en-US" sz="1800" dirty="0" err="1">
                <a:solidFill>
                  <a:srgbClr val="F2F5F9"/>
                </a:solidFill>
              </a:rPr>
              <a:t>energije</a:t>
            </a:r>
            <a:r>
              <a:rPr lang="en-US" dirty="0">
                <a:solidFill>
                  <a:srgbClr val="F2F5F9"/>
                </a:solidFill>
              </a:rPr>
              <a:t> </a:t>
            </a:r>
            <a:r>
              <a:rPr lang="en-US" sz="1800" dirty="0">
                <a:solidFill>
                  <a:srgbClr val="F2F5F9"/>
                </a:solidFill>
              </a:rPr>
              <a:t>u odnosu na UDP i MQTT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051560" y="4032504"/>
            <a:ext cx="91440" cy="9144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R"/>
          </a:p>
        </p:txBody>
      </p:sp>
      <p:sp>
        <p:nvSpPr>
          <p:cNvPr id="15" name="Text 12"/>
          <p:cNvSpPr/>
          <p:nvPr/>
        </p:nvSpPr>
        <p:spPr>
          <a:xfrm>
            <a:off x="1307592" y="3941064"/>
            <a:ext cx="89611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F2F5F9"/>
                </a:solidFill>
              </a:rPr>
              <a:t>O</a:t>
            </a:r>
            <a:r>
              <a:rPr lang="en-US" sz="1800" dirty="0" err="1">
                <a:solidFill>
                  <a:srgbClr val="F2F5F9"/>
                </a:solidFill>
              </a:rPr>
              <a:t>ptimizacija</a:t>
            </a:r>
            <a:r>
              <a:rPr lang="en-US" sz="1800" dirty="0">
                <a:solidFill>
                  <a:srgbClr val="F2F5F9"/>
                </a:solidFill>
              </a:rPr>
              <a:t> faze </a:t>
            </a:r>
            <a:r>
              <a:rPr lang="en-US" sz="1800" dirty="0" err="1">
                <a:solidFill>
                  <a:srgbClr val="F2F5F9"/>
                </a:solidFill>
              </a:rPr>
              <a:t>mirovanja</a:t>
            </a:r>
            <a:r>
              <a:rPr lang="en-US" sz="1800" dirty="0">
                <a:solidFill>
                  <a:srgbClr val="F2F5F9"/>
                </a:solidFill>
              </a:rPr>
              <a:t> i komunikacije najvažnija je za </a:t>
            </a:r>
            <a:r>
              <a:rPr lang="en-US" sz="1800" dirty="0" err="1">
                <a:solidFill>
                  <a:srgbClr val="F2F5F9"/>
                </a:solidFill>
              </a:rPr>
              <a:t>ukupnu</a:t>
            </a:r>
            <a:r>
              <a:rPr lang="en-US" sz="1800" dirty="0">
                <a:solidFill>
                  <a:srgbClr val="F2F5F9"/>
                </a:solidFill>
              </a:rPr>
              <a:t> </a:t>
            </a:r>
            <a:r>
              <a:rPr lang="en-US" sz="1800" dirty="0" err="1">
                <a:solidFill>
                  <a:srgbClr val="F2F5F9"/>
                </a:solidFill>
              </a:rPr>
              <a:t>potrošnju</a:t>
            </a:r>
            <a:r>
              <a:rPr lang="en-US" sz="1800" dirty="0">
                <a:solidFill>
                  <a:srgbClr val="F2F5F9"/>
                </a:solidFill>
              </a:rPr>
              <a:t> </a:t>
            </a:r>
            <a:r>
              <a:rPr lang="en-US" sz="1800" dirty="0" err="1">
                <a:solidFill>
                  <a:srgbClr val="F2F5F9"/>
                </a:solidFill>
              </a:rPr>
              <a:t>sustava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325880" y="5285232"/>
            <a:ext cx="9281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914400" y="4681728"/>
            <a:ext cx="96926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C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Hvala </a:t>
            </a:r>
            <a:r>
              <a:rPr lang="en-US" sz="2800" b="1" dirty="0" err="1">
                <a:solidFill>
                  <a:srgbClr val="FFC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</a:t>
            </a:r>
            <a:r>
              <a:rPr lang="en-US" sz="2800" b="1" dirty="0">
                <a:solidFill>
                  <a:srgbClr val="FFC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FFC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pažnji</a:t>
            </a:r>
            <a:r>
              <a:rPr lang="en-US" sz="2800" b="1" dirty="0">
                <a:solidFill>
                  <a:srgbClr val="FFC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! 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502920" y="647395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7B8"/>
                </a:solidFill>
              </a:rPr>
              <a:t>Završni rad · Nino Ljubas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147572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AA7B8"/>
                </a:solidFill>
              </a:rPr>
              <a:t>10</a:t>
            </a:r>
            <a:endParaRPr lang="en-US" sz="750" dirty="0"/>
          </a:p>
        </p:txBody>
      </p:sp>
      <p:pic>
        <p:nvPicPr>
          <p:cNvPr id="21" name="Picture 20" descr="Screenshot 2026-06-27 at 20.27.22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"/>
            <a:ext cx="1051560" cy="5657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1250</TotalTime>
  <Words>611</Words>
  <Application>Microsoft Macintosh PowerPoint</Application>
  <PresentationFormat>Widescreen</PresentationFormat>
  <Paragraphs>140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Eksperimentalna analiza energetskog profila rada uređaja ograničenih resursa u sustavu Interneta stvari</dc:title>
  <dc:subject>Obrana završnog rada</dc:subject>
  <dc:creator>Nino Ljubas</dc:creator>
  <cp:lastModifiedBy>Nino Ljubas</cp:lastModifiedBy>
  <cp:revision>9</cp:revision>
  <dcterms:created xsi:type="dcterms:W3CDTF">2026-06-27T18:23:46Z</dcterms:created>
  <dcterms:modified xsi:type="dcterms:W3CDTF">2026-06-29T06:40:25Z</dcterms:modified>
</cp:coreProperties>
</file>